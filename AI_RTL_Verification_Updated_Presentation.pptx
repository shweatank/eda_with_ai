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AI-Powered RTL Verification</a:t>
            </a:r>
            <a:br/>
            <a:r>
              <a:t>&amp; Debugging Platform</a:t>
            </a:r>
          </a:p>
          <a:p>
            <a:pPr>
              <a:defRPr sz="1500">
                <a:solidFill>
                  <a:srgbClr val="D2E1F0"/>
                </a:solidFill>
              </a:defRPr>
            </a:pPr>
            <a:r>
              <a:t>SystemVerilog • Icarus Verilog • GTKWave • FastAPI • GraphQL • Neo4j • Groq •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977639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A0D2D2"/>
                </a:solidFill>
              </a:defRPr>
            </a:pPr>
            <a:r>
              <a:t>Traffic Light Controller + 4-bit ALU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1. Problem &amp;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200400" cy="594360"/>
          </a:xfrm>
          <a:prstGeom prst="roundRect">
            <a:avLst/>
          </a:prstGeom>
          <a:solidFill>
            <a:srgbClr val="EBEFF4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Traditional RTL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Run simulations repeatedly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Read logs to identify failures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Inspect waveforms manually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Trace failures back to the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34440"/>
            <a:ext cx="2468880" cy="594360"/>
          </a:xfrm>
          <a:prstGeom prst="roundRect">
            <a:avLst/>
          </a:prstGeom>
          <a:solidFill>
            <a:srgbClr val="E7F5F5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My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Automates simulation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Parses PASS/FAIL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Stores verification relationships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Adds AI-assisted debugging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200400" cy="594360"/>
          </a:xfrm>
          <a:prstGeom prst="roundRect">
            <a:avLst/>
          </a:prstGeom>
          <a:solidFill>
            <a:srgbClr val="EBF4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965960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Clear verification results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Traceability in Neo4j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Root-cause explanation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Debugging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983480"/>
            <a:ext cx="9966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238"/>
                </a:solidFill>
              </a:defRPr>
            </a:pPr>
            <a:r>
              <a:t>Important: PASS/FAIL comes from the simulator + testbench. AI is used only after a failure.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2. Complete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GraphQL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Verification</a:t>
            </a:r>
            <a:br/>
            <a:r>
              <a:t>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Icarus</a:t>
            </a:r>
            <a:br/>
            <a:r>
              <a:t>Verilog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325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Neo4j</a:t>
            </a:r>
            <a:br/>
            <a:r>
              <a:t>AuraDB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1691640"/>
            <a:ext cx="22860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39" y="1691640"/>
            <a:ext cx="228601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691640"/>
            <a:ext cx="22860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1691640"/>
            <a:ext cx="32004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19" y="1691640"/>
            <a:ext cx="320041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0" y="1691640"/>
            <a:ext cx="22860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3154680"/>
            <a:ext cx="1828800" cy="640080"/>
          </a:xfrm>
          <a:prstGeom prst="roundRect">
            <a:avLst/>
          </a:prstGeom>
          <a:solidFill>
            <a:srgbClr val="EBF6EB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154680"/>
            <a:ext cx="1828800" cy="640080"/>
          </a:xfrm>
          <a:prstGeom prst="roundRect">
            <a:avLst/>
          </a:prstGeom>
          <a:solidFill>
            <a:srgbClr val="FAEBEB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E3737"/>
                </a:solidFill>
              </a:defRPr>
            </a:pPr>
            <a:r>
              <a:t>FAIL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4572000"/>
            <a:ext cx="3200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Store verification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572000"/>
            <a:ext cx="4389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Groq AI → Root Cause → Recommendation → Neo4j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3. RTL Example — Two-Road Traffic Light 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SystemVerilog RTL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FSM + Counter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1920240"/>
            <a:ext cx="0" cy="22860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600200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A_GREEN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00200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A_YELLOW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00200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B_GREEN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00200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B_YELLOW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1920240"/>
            <a:ext cx="41148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03720" y="1920240"/>
            <a:ext cx="41148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32520" y="1920240"/>
            <a:ext cx="41148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3337560"/>
            <a:ext cx="1554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Clock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15468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Counter</a:t>
            </a:r>
            <a:br/>
            <a:r>
              <a:t>counts cycles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15468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238"/>
                </a:solidFill>
              </a:defRPr>
            </a:pPr>
            <a:r>
              <a:t>FSM decides WHAT state</a:t>
            </a:r>
            <a:br/>
            <a:r>
              <a:t>Counter decides WHEN to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337560"/>
            <a:ext cx="20574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Traffic-light outputs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40280" y="3611880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611880"/>
            <a:ext cx="457200" cy="0"/>
          </a:xfrm>
          <a:prstGeom prst="line">
            <a:avLst/>
          </a:prstGeom>
          <a:ln w="25400">
            <a:solidFill>
              <a:srgbClr val="D2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15400" y="3611880"/>
            <a:ext cx="365760" cy="0"/>
          </a:xfrm>
          <a:prstGeom prst="line">
            <a:avLst/>
          </a:prstGeom>
          <a:ln w="25400">
            <a:solidFill>
              <a:srgbClr val="22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Four states: A_GREEN → A_YELLOW → B_GREEN → B_YELLOW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Counter controls how long each state remains active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Testbench checks state sequence and timing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4. RTL Example — 4-bit ALU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4630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A[3:0]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4630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B[3:0]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14630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Opcode[1:0]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4884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D3741"/>
                </a:solidFill>
              </a:defRPr>
            </a:pPr>
            <a:r>
              <a:t>4-bit ALU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1664208"/>
            <a:ext cx="1554480" cy="850392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3120" y="2624328"/>
            <a:ext cx="1554480" cy="118872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03120" y="3154680"/>
            <a:ext cx="1554480" cy="429768"/>
          </a:xfrm>
          <a:prstGeom prst="line">
            <a:avLst/>
          </a:prstGeom>
          <a:ln w="25400">
            <a:solidFill>
              <a:srgbClr val="D2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2423160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result[3:0]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743200"/>
            <a:ext cx="150876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3429000"/>
            <a:ext cx="2286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00 → ADD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959352"/>
            <a:ext cx="2286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01 → SUB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9704"/>
            <a:ext cx="2286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10 → 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020056"/>
            <a:ext cx="2286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3741"/>
                </a:solidFill>
              </a:defRPr>
            </a:pPr>
            <a:r>
              <a:t>11 → 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212080"/>
            <a:ext cx="6583680" cy="594360"/>
          </a:xfrm>
          <a:prstGeom prst="roundRect">
            <a:avLst/>
          </a:prstGeom>
          <a:solidFill>
            <a:srgbClr val="FAF3E8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Example: A=6, B=3, OR → expected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5. Testbench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1. Apply inputs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1700784"/>
            <a:ext cx="411479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34640" y="137160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2. Run RTL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1700784"/>
            <a:ext cx="41148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66360" y="137160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3. Calculate expected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1700784"/>
            <a:ext cx="411479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79" y="137160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4. Compare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19" y="1700784"/>
            <a:ext cx="411481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38360" y="137160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5. PASS /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The SystemVerilog testbench acts as the verifier.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It gives inputs, waits for output, and compares expected vs actual.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PASS/FAIL is deterministic and does not come from the LLM.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The testbench can also generate a VCD waveform for debugging.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257800"/>
            <a:ext cx="9966960" cy="594360"/>
          </a:xfrm>
          <a:prstGeom prst="roundRect">
            <a:avLst/>
          </a:prstGeom>
          <a:solidFill>
            <a:srgbClr val="EBF0F7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238"/>
                </a:solidFill>
              </a:defRPr>
            </a:pPr>
            <a:r>
              <a:t>Verification = checking whether the hardware behaves according to its specification.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6. Simulation, Log Parser &amp; GTKWave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920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RTL + Testbench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234440"/>
            <a:ext cx="1920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Icarus Verilog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234440"/>
            <a:ext cx="1645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Simulation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536192"/>
            <a:ext cx="41148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92040" y="1536192"/>
            <a:ext cx="41148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377440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simulation.log</a:t>
            </a:r>
            <a:br/>
            <a:r>
              <a:t>→ Log Parser → structured PASS/FAIL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waveform.vcd</a:t>
            </a:r>
            <a:br/>
            <a:r>
              <a:t>→ GTKWave → signal behavior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10332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Log Parser reads simulator text such as TEST_1: PASS / TEST_3: FAIL.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It converts text into total, passed, failed, expected and actual values.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VCD stores signal changes; GTKWave visualizes clock, state, counter, inputs and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5486400"/>
            <a:ext cx="8046720" cy="548640"/>
          </a:xfrm>
          <a:prstGeom prst="roundRect">
            <a:avLst/>
          </a:prstGeom>
          <a:solidFill>
            <a:srgbClr val="FAEBEB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3737"/>
                </a:solidFill>
              </a:defRPr>
            </a:pPr>
            <a:r>
              <a:t>Example failure: Expected = 7, Actual = 2 → OUTPUT_MISMATCH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7. Backend, GraphQL &amp; Neo4j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GraphQL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234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34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1"/>
                </a:solidFill>
              </a:defRPr>
            </a:pPr>
            <a:r>
              <a:t>Neo4j AuraDB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554480"/>
            <a:ext cx="36576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1554480"/>
            <a:ext cx="36576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60" y="1554480"/>
            <a:ext cx="146304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33172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FastAPI manages the backend and starts verification jobs.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GraphQL is the query layer between Streamlit and FastAPI; the frontend requests the fields it needs.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Neo4j stores connected verification information as nodes and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16459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160520"/>
            <a:ext cx="16459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4160520"/>
            <a:ext cx="16459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Verification 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160520"/>
            <a:ext cx="16459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Simulation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160520"/>
            <a:ext cx="16459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Failure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4434840"/>
            <a:ext cx="59436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7720" y="4434840"/>
            <a:ext cx="45720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20840" y="4434840"/>
            <a:ext cx="777239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4434840"/>
            <a:ext cx="50292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463040" y="5257800"/>
            <a:ext cx="9144000" cy="594360"/>
          </a:xfrm>
          <a:prstGeom prst="roundRect">
            <a:avLst/>
          </a:prstGeom>
          <a:solidFill>
            <a:srgbClr val="EBF5F5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238"/>
                </a:solidFill>
              </a:defRPr>
            </a:pPr>
            <a:r>
              <a:t>Project → Job → Simulation → Tests / Failures → AI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8. Failure Analysis with Groq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Simulator/Testbench</a:t>
            </a:r>
            <a:br/>
            <a:r>
              <a:t>finds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801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Log Parser +</a:t>
            </a:r>
            <a:br/>
            <a:r>
              <a:t>Failure Analyzer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2801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Groq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2801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Root Cause +</a:t>
            </a:r>
            <a:br/>
            <a:r>
              <a:t>Recommendation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664208"/>
            <a:ext cx="54864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1664208"/>
            <a:ext cx="54864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2440" y="1664208"/>
            <a:ext cx="548640" cy="0"/>
          </a:xfrm>
          <a:prstGeom prst="line">
            <a:avLst/>
          </a:prstGeom>
          <a:ln w="25400">
            <a:solidFill>
              <a:srgbClr val="2C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063240"/>
            <a:ext cx="5120640" cy="548640"/>
          </a:xfrm>
          <a:prstGeom prst="roundRect">
            <a:avLst/>
          </a:prstGeom>
          <a:solidFill>
            <a:srgbClr val="FAEBEB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E3737"/>
                </a:solidFill>
              </a:defRPr>
            </a:pPr>
            <a:r>
              <a:t>Traffic Light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Expected: A_YELLOW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Actual: B_GREEN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Category: COUNTER_ERROR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AI: counter threshold is incorrect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063240"/>
            <a:ext cx="5120640" cy="548640"/>
          </a:xfrm>
          <a:prstGeom prst="roundRect">
            <a:avLst/>
          </a:prstGeom>
          <a:solidFill>
            <a:srgbClr val="FAEBEB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E3737"/>
                </a:solidFill>
              </a:defRPr>
            </a:pPr>
            <a:r>
              <a:t>ALU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033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A=6, B=3, operation=OR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Expected: 7   Actual: 2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Category: OUTPUT_MISMATCH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AI: OR was implemented using 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5532120"/>
            <a:ext cx="9692640" cy="566928"/>
          </a:xfrm>
          <a:prstGeom prst="roundRect">
            <a:avLst/>
          </a:prstGeom>
          <a:solidFill>
            <a:srgbClr val="EBF0F7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238"/>
                </a:solidFill>
              </a:defRPr>
            </a:pPr>
            <a:r>
              <a:t>AI explains WHY a test failed; it does not decide PASS/FAIL.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</a:defRPr>
            </a:pPr>
            <a:r>
              <a:t>9. Demo Flow, Results &amp; Key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02920" cy="502920"/>
          </a:xfrm>
          <a:prstGeom prst="roundRect">
            <a:avLst/>
          </a:prstGeom>
          <a:solidFill>
            <a:srgbClr val="227D7D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234440"/>
            <a:ext cx="2880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Select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34440"/>
            <a:ext cx="502920" cy="502920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234440"/>
            <a:ext cx="2880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Run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502920" cy="502920"/>
          </a:xfrm>
          <a:prstGeom prst="roundRect">
            <a:avLst/>
          </a:prstGeom>
          <a:solidFill>
            <a:srgbClr val="D27D28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234440"/>
            <a:ext cx="2880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Icarus simulates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502920" cy="5029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331720"/>
            <a:ext cx="2880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Read PASS/FAIL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502920" cy="502920"/>
          </a:xfrm>
          <a:prstGeom prst="roundRect">
            <a:avLst/>
          </a:prstGeom>
          <a:solidFill>
            <a:srgbClr val="227D7D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31720"/>
            <a:ext cx="2880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2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Inspect GTKWave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331720"/>
            <a:ext cx="502920" cy="502920"/>
          </a:xfrm>
          <a:prstGeom prst="roundRect">
            <a:avLst/>
          </a:prstGeom>
          <a:solidFill>
            <a:srgbClr val="D27D28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331720"/>
            <a:ext cx="2880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View Neo4j +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3246120" cy="548640"/>
          </a:xfrm>
          <a:prstGeom prst="roundRect">
            <a:avLst/>
          </a:prstGeom>
          <a:solidFill>
            <a:srgbClr val="EBF6EB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Traffic Light —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3246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4 tests • 4 PASS • 0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03320"/>
            <a:ext cx="3246120" cy="548640"/>
          </a:xfrm>
          <a:prstGeom prst="roundRect">
            <a:avLst/>
          </a:prstGeom>
          <a:solidFill>
            <a:srgbClr val="FAEBEB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3737"/>
                </a:solidFill>
              </a:defRPr>
            </a:pPr>
            <a:r>
              <a:t>Traffic Light — FAIL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343400"/>
            <a:ext cx="3246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4 tests • 2 PASS • 2 FAIL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703320"/>
            <a:ext cx="3246120" cy="548640"/>
          </a:xfrm>
          <a:prstGeom prst="roundRect">
            <a:avLst/>
          </a:prstGeom>
          <a:solidFill>
            <a:srgbClr val="FAEBEB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3737"/>
                </a:solidFill>
              </a:defRPr>
            </a:pPr>
            <a:r>
              <a:t>ALU — FAIL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343400"/>
            <a:ext cx="3246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OR • Expected 7 • Actual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10744200" cy="777240"/>
          </a:xfrm>
          <a:prstGeom prst="roundRect">
            <a:avLst/>
          </a:prstGeom>
          <a:solidFill>
            <a:srgbClr val="142238"/>
          </a:solidFill>
          <a:ln>
            <a:solidFill>
              <a:srgbClr val="14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SystemVerilog verifies hardware → Icarus simulates → Log Parser structures results → Neo4j preserves traceability → Groq explains failures → GraphQL/Streamlit present the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47104"/>
            <a:ext cx="11155680" cy="13716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Bit Sizes &amp; Worked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356616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B4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/>
              <a:t>1. ALU — 4 bits</a:t>
            </a:r>
          </a:p>
          <a:p>
            <a:pPr>
              <a:spcAft>
                <a:spcPts val="300"/>
              </a:spcAft>
              <a:defRPr sz="1400"/>
            </a:pPr>
            <a:r>
              <a:t>A = 0101 (5)</a:t>
            </a:r>
          </a:p>
          <a:p>
            <a:pPr>
              <a:spcAft>
                <a:spcPts val="300"/>
              </a:spcAft>
              <a:defRPr sz="1400"/>
            </a:pPr>
            <a:r>
              <a:t>B = 0011 (3)</a:t>
            </a:r>
          </a:p>
          <a:p>
            <a:pPr>
              <a:spcAft>
                <a:spcPts val="300"/>
              </a:spcAft>
              <a:defRPr sz="1400"/>
            </a:pPr>
            <a:r>
              <a:t>ADD: 0101 + 0011 = 1000 (8)</a:t>
            </a:r>
          </a:p>
          <a:p>
            <a:pPr>
              <a:spcAft>
                <a:spcPts val="300"/>
              </a:spcAft>
              <a:defRPr sz="1400"/>
            </a:pPr>
            <a:r>
              <a:t>AND: 0101 &amp; 0011 = 0001 (1)</a:t>
            </a:r>
          </a:p>
          <a:p>
            <a:pPr>
              <a:spcAft>
                <a:spcPts val="300"/>
              </a:spcAft>
              <a:defRPr sz="1400"/>
            </a:pPr>
            <a:r>
              <a:t>OR:  0101 | 0011 = 0111 (7)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143000"/>
            <a:ext cx="356616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B4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/>
              <a:t>2. FSM State — 2 bits</a:t>
            </a:r>
          </a:p>
          <a:p>
            <a:pPr>
              <a:spcAft>
                <a:spcPts val="300"/>
              </a:spcAft>
              <a:defRPr sz="1400"/>
            </a:pPr>
            <a:r>
              <a:t>4 states need 2 bits.</a:t>
            </a:r>
          </a:p>
          <a:p>
            <a:pPr>
              <a:spcAft>
                <a:spcPts val="300"/>
              </a:spcAft>
              <a:defRPr sz="1400"/>
            </a:pPr>
            <a:r>
              <a:t>00 → A_GREEN</a:t>
            </a:r>
          </a:p>
          <a:p>
            <a:pPr>
              <a:spcAft>
                <a:spcPts val="300"/>
              </a:spcAft>
              <a:defRPr sz="1400"/>
            </a:pPr>
            <a:r>
              <a:t>01 → A_YELLOW</a:t>
            </a:r>
          </a:p>
          <a:p>
            <a:pPr>
              <a:spcAft>
                <a:spcPts val="300"/>
              </a:spcAft>
              <a:defRPr sz="1400"/>
            </a:pPr>
            <a:r>
              <a:t>10 → B_GREEN</a:t>
            </a:r>
          </a:p>
          <a:p>
            <a:pPr>
              <a:spcAft>
                <a:spcPts val="300"/>
              </a:spcAft>
              <a:defRPr sz="1400"/>
            </a:pPr>
            <a:r>
              <a:t>11 → B_YELLOW</a:t>
            </a:r>
          </a:p>
          <a:p>
            <a:pPr>
              <a:spcAft>
                <a:spcPts val="300"/>
              </a:spcAft>
              <a:defRPr sz="1400"/>
            </a:pPr>
            <a:r>
              <a:t>Sequence: 00 → 01 → 10 → 11 → 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37560"/>
            <a:ext cx="356616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B4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/>
              <a:t>3. Counter — 3 bits</a:t>
            </a:r>
          </a:p>
          <a:p>
            <a:pPr>
              <a:spcAft>
                <a:spcPts val="300"/>
              </a:spcAft>
              <a:defRPr sz="1400"/>
            </a:pPr>
            <a:r>
              <a:t>3 bits represent 0–7.</a:t>
            </a:r>
          </a:p>
          <a:p>
            <a:pPr>
              <a:spcAft>
                <a:spcPts val="300"/>
              </a:spcAft>
              <a:defRPr sz="1400"/>
            </a:pPr>
            <a:r>
              <a:t>For a 5-cycle state:</a:t>
            </a:r>
          </a:p>
          <a:p>
            <a:pPr>
              <a:spcAft>
                <a:spcPts val="300"/>
              </a:spcAft>
              <a:defRPr sz="1400"/>
            </a:pPr>
            <a:r>
              <a:t>000 → 001 → 010 → 011 → 100 → 101</a:t>
            </a:r>
          </a:p>
          <a:p>
            <a:pPr>
              <a:spcAft>
                <a:spcPts val="300"/>
              </a:spcAft>
              <a:defRPr sz="1400"/>
            </a:pPr>
            <a:r>
              <a:t>At count 4, transition can occur.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3337560"/>
            <a:ext cx="356616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B4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/>
              <a:t>4. ALU Opcode — 2 bits</a:t>
            </a:r>
          </a:p>
          <a:p>
            <a:pPr>
              <a:spcAft>
                <a:spcPts val="300"/>
              </a:spcAft>
              <a:defRPr sz="1400"/>
            </a:pPr>
            <a:r>
              <a:t>4 operations need 2 bits.</a:t>
            </a:r>
          </a:p>
          <a:p>
            <a:pPr>
              <a:spcAft>
                <a:spcPts val="300"/>
              </a:spcAft>
              <a:defRPr sz="1400"/>
            </a:pPr>
            <a:r>
              <a:t>00 → ADD</a:t>
            </a:r>
          </a:p>
          <a:p>
            <a:pPr>
              <a:spcAft>
                <a:spcPts val="300"/>
              </a:spcAft>
              <a:defRPr sz="1400"/>
            </a:pPr>
            <a:r>
              <a:t>01 → SUB</a:t>
            </a:r>
          </a:p>
          <a:p>
            <a:pPr>
              <a:spcAft>
                <a:spcPts val="300"/>
              </a:spcAft>
              <a:defRPr sz="1400"/>
            </a:pPr>
            <a:r>
              <a:t>10 → AND</a:t>
            </a:r>
          </a:p>
          <a:p>
            <a:pPr>
              <a:spcAft>
                <a:spcPts val="300"/>
              </a:spcAft>
              <a:defRPr sz="1400"/>
            </a:pPr>
            <a:r>
              <a:t>11 → OR</a:t>
            </a:r>
          </a:p>
          <a:p>
            <a:pPr>
              <a:spcAft>
                <a:spcPts val="300"/>
              </a:spcAft>
              <a:defRPr sz="1400"/>
            </a:pPr>
            <a:r>
              <a:t>Example: opcode 11 selects 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40680"/>
            <a:ext cx="7223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Failure examples: Traffic Light → expected A_YELLOW, actual B_GREEN (COUNTER_ERROR).  ALU OR → expected 7, actual 2 (OUTPUT_MISMATCH).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RTL Verification &amp; Debugging Platform</dc:title>
  <dc:subject>10-slide project presentation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